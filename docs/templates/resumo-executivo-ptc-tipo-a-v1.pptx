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em Infraestrutura e Engenharia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TÉCNICO-COMERCIAL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[Objeto resumido em uma linha — ex.: Apoio à Gestão Integral da Concessão — {Projeto}]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4206240" cy="1234440"/>
          </a:xfrm>
          <a:prstGeom prst="rect">
            <a:avLst/>
          </a:prstGeom>
          <a:solidFill>
            <a:srgbClr val="8B4A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892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MNT-AAAA-COM-NNNN
</a:t>
            </a:r>
            <a:pPr indent="0" marL="0">
              <a:buNone/>
            </a:pPr>
            <a:r>
              <a:rPr lang="en-US" sz="1200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[PTC/PRT/PRC] — REV_00
</a:t>
            </a:r>
            <a:pPr indent="0" marL="0">
              <a:buNone/>
            </a:pPr>
            <a:r>
              <a:rPr lang="en-US" sz="1200" b="1" dirty="0">
                <a:solidFill>
                  <a:srgbClr val="E0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[DD/mês/AAAA]  ·  CONFIDENCIAL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SEÇÃO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2EC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0428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da MANTA ao cliente na implantação/gestão do escopo contratado, em conjunto com as partes envolvidas.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2EC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901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0428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definidas conforme a natureza do projeto (engenharia, regulatório, governança, financeiro etc.).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2EC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4005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0740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via Comitê Técnico dedicado + ferramentas de apoio (SaaS), quando aplicável.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84048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2ECE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4005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40740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 em fases sequenciais — ex.: Fase 1 (Avaliação Inicial) e Fase 2 (Implantação).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— 1/5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SEÇÃO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dos Serviços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5D3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projetos, aderência técnica, vistorias.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5D3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Contratual / Claims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contratual, notas técnicas fundamentadas.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5D3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executivo, políticas de governança, acompanhamento financeiro.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5D3A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9828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514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crítico e simulação probabilística de prazos.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apoio (SaaS): módulos de governança, engenharia/aderência, contratual, financeiro e cronograma, com base de conhecimento pesquisável (RAG) — quando aplicável.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— 2/5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SEÇÃO 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743200" cy="457200"/>
          </a:xfrm>
          <a:prstGeom prst="rect">
            <a:avLst/>
          </a:prstGeom>
          <a:solidFill>
            <a:srgbClr val="5D3A1A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2377440"/>
            <a:ext cx="8321040" cy="457200"/>
          </a:xfrm>
          <a:prstGeom prst="rect">
            <a:avLst/>
          </a:prstGeom>
          <a:solidFill>
            <a:srgbClr val="C45A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Avaliação Inicial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Implantação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inicial, renovável automaticamente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749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dias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4343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Antecedência mínima para não renovação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749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dias corridos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43434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técnica (paralela à Fase 1), quando aplicável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— 3/5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SEÇÃO 12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315200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210312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Frente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Valor mensal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Seção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3A1A"/>
                          </a:solidFill>
                        </a:rPr>
                        <a:t>Diagnóstico / Fase 1 (valor fixo)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3A1A"/>
                          </a:solidFill>
                        </a:rPr>
                        <a:t>[Valor total]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</a:rPr>
                        <a:t>§12.1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3A1A"/>
                          </a:solidFill>
                        </a:rPr>
                        <a:t>Comitê Técnico (Fase 2)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3A1A"/>
                          </a:solidFill>
                        </a:rPr>
                        <a:t>[R$/mês]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</a:rPr>
                        <a:t>§12.3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3A1A"/>
                          </a:solidFill>
                        </a:rPr>
                        <a:t>Ferramentas de Apoio (Trilha 1)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3A1A"/>
                          </a:solidFill>
                        </a:rPr>
                        <a:t>[Escalonado]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5A5A"/>
                          </a:solidFill>
                        </a:rPr>
                        <a:t>§12.2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8B4A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58200" y="19202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à parte. Exigível só após formalização do resultado aprovado — nunca sobre estimativa (§12.4).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de pagamento (§13): </a:t>
            </a:r>
            <a:pPr indent="0" marL="0">
              <a:buNone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2% + juros de mora 1%/mês + correção IPCA.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Deslocamentos (§12): </a:t>
            </a:r>
            <a:pPr indent="0" marL="0">
              <a:buNone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por conta do cliente, mediante aprovação prévia.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— 4/5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SEÇÃO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2EC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Comitê Técnico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executivo mensal de governança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técnicos periódicos de engenharia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 de acompanhamento financeiro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cronograma e mapa de riscos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técnicas de reequilíbrio, quando aplicável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2EC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Ferramentas de Apoio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77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dedicada e parametrizada para o projeto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governança, engenharia, financeiro e cronograma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conhecimento institucional indexada e pesquisável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— 5/5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D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→ Seção 2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→ Seção 3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→ Seção 7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→ Seção 12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e exigibilidade do êxito → Seção 13
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 → Seção 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4389120"/>
            <a:ext cx="10698480" cy="18288"/>
          </a:xfrm>
          <a:prstGeom prst="rect">
            <a:avLst/>
          </a:prstGeom>
          <a:solidFill>
            <a:srgbClr val="8B4A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6634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Comercial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29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Willer Monteiro  ·  (31) 98757-2197  ·  comercial@mantaassociados.com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949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Consultoria Ltda. — CNPJ 56.063.961/0001-08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[CLIENTE] | [PROJETO] | v[VERSÃO] | [DATA] | [AUTOR] | CONFIDENCIAL | trace: [ID]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2026-09-10T15:34:14Z</dcterms:created>
  <dcterms:modified xsi:type="dcterms:W3CDTF">2026-09-10T15:34:14Z</dcterms:modified>
</cp:coreProperties>
</file>
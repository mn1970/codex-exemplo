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F2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/d92b3415-3f95-59c5-b5f5-a1d6e3a93ce1/scratchpad/manta-institucional/assets/logo-manta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2011680" cy="74053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07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INSTITUCIONAL PADRÃO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6974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de Engenharia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6118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7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técnica especializada em infraestrutura · Ecossistema Manta Maestro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4892040"/>
            <a:ext cx="2651760" cy="1051560"/>
          </a:xfrm>
          <a:prstGeom prst="rect">
            <a:avLst/>
          </a:prstGeom>
          <a:solidFill>
            <a:srgbClr val="4A242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48640" y="5029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5595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 atendidos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520440" y="4892040"/>
            <a:ext cx="2651760" cy="1051560"/>
          </a:xfrm>
          <a:prstGeom prst="rect">
            <a:avLst/>
          </a:prstGeom>
          <a:solidFill>
            <a:srgbClr val="4A242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520440" y="5029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3520440" y="55595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Colaboradores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92240" y="4892040"/>
            <a:ext cx="2651760" cy="1051560"/>
          </a:xfrm>
          <a:prstGeom prst="rect">
            <a:avLst/>
          </a:prstGeom>
          <a:solidFill>
            <a:srgbClr val="4A242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492240" y="5029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555955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D8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Anos de experiência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9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Associados · Apresentação Institucional Padrão · v1.0 · MANTA-APRESENTACAO-INSTITUCIONAL-20260903-01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F4D19"/>
          </a:solidFill>
          <a:ln/>
        </p:spPr>
      </p:sp>
      <p:pic>
        <p:nvPicPr>
          <p:cNvPr id="3" name="Image 0" descr="/tmp/claude-0/-home-user/d92b3415-3f95-59c5-b5f5-a1d6e3a93ce1/scratchpad/manta-institucional/assets/logo-mant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1097280" cy="40392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9326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4D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 E VALORES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070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Somos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Associados · Apresentação Institucional Padrão · v1.0 · MANTA-APRESENTACAO-INSTITUCIONAL-20260903-01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0116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8F3D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Transformamos dados de engenharia em decisões estratégicas para projetos de infraestrutura no Brasil e no mundo.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2971800"/>
            <a:ext cx="502920" cy="502920"/>
          </a:xfrm>
          <a:prstGeom prst="ellipse">
            <a:avLst/>
          </a:prstGeom>
          <a:solidFill>
            <a:srgbClr val="BF4D1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6301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Inovação Contínua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105656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e melhoria constante de metodologia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91840" y="2971800"/>
            <a:ext cx="502920" cy="502920"/>
          </a:xfrm>
          <a:prstGeom prst="ellipse">
            <a:avLst/>
          </a:prstGeom>
          <a:solidFill>
            <a:srgbClr val="BF4D1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29184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3291840" y="36301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Excelência Profissional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3291840" y="4105656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 técnico em cada entrega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126480" y="2971800"/>
            <a:ext cx="502920" cy="502920"/>
          </a:xfrm>
          <a:prstGeom prst="ellipse">
            <a:avLst/>
          </a:prstGeom>
          <a:solidFill>
            <a:srgbClr val="BF4D1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12648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126480" y="36301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6126480" y="4105656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com clientes e parceiros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8961120" y="2971800"/>
            <a:ext cx="502920" cy="502920"/>
          </a:xfrm>
          <a:prstGeom prst="ellipse">
            <a:avLst/>
          </a:prstGeom>
          <a:solidFill>
            <a:srgbClr val="BF4D19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961120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961120" y="363016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Pensamento Holístico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8961120" y="4105656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integrada do ciclo de vida do projeto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4D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países  ·  60 colaboradores  ·  30 anos de experiência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F4D19"/>
          </a:solidFill>
          <a:ln/>
        </p:spPr>
      </p:sp>
      <p:pic>
        <p:nvPicPr>
          <p:cNvPr id="3" name="Image 0" descr="/tmp/claude-0/-home-user/d92b3415-3f95-59c5-b5f5-a1d6e3a93ce1/scratchpad/manta-institucional/assets/logo-mant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1097280" cy="40392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9326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4D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E SERVIÇOS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070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Global e Portfólio de Serviços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Associados · Apresentação Institucional Padrão · v1.0 · MANTA-APRESENTACAO-INSTITUCIONAL-20260903-01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01168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de referência em três continentes, combinando expertise técnica e contexto regulatório local · Brasil · América Latina · Ásia · Oriente Médio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2606040"/>
            <a:ext cx="45720" cy="868680"/>
          </a:xfrm>
          <a:prstGeom prst="rect">
            <a:avLst/>
          </a:prstGeom>
          <a:solidFill>
            <a:srgbClr val="BF4D19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258775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de Transporte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99008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Rodovias · Ferrovias · Metrô · Túneis · OAEs e pontes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3566160"/>
            <a:ext cx="45720" cy="868680"/>
          </a:xfrm>
          <a:prstGeom prst="rect">
            <a:avLst/>
          </a:prstGeom>
          <a:solidFill>
            <a:srgbClr val="BF4D1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5800" y="354787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Energia e Recursos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85800" y="39502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Hidrelétricas · Óleo &amp; gás · Dutovias · Mineração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526280"/>
            <a:ext cx="45720" cy="868680"/>
          </a:xfrm>
          <a:prstGeom prst="rect">
            <a:avLst/>
          </a:prstGeom>
          <a:solidFill>
            <a:srgbClr val="BF4D1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85800" y="450799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Saneamento e Meio Ambiente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685800" y="49103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ETAs/ETEs · Água de reuso · Drenagem urbana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57200" y="5486400"/>
            <a:ext cx="45720" cy="868680"/>
          </a:xfrm>
          <a:prstGeom prst="rect">
            <a:avLst/>
          </a:prstGeom>
          <a:solidFill>
            <a:srgbClr val="BF4D1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85800" y="546811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Gestão, Contratos e Custos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85800" y="587044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Concessões · Claims/reequilíbrio · SICRO/SINAPI · Hub IA &amp; Digital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F4D19"/>
          </a:solidFill>
          <a:ln/>
        </p:spPr>
      </p:sp>
      <p:pic>
        <p:nvPicPr>
          <p:cNvPr id="3" name="Image 0" descr="/tmp/claude-0/-home-user/d92b3415-3f95-59c5-b5f5-a1d6e3a93ce1/scratchpad/manta-institucional/assets/logo-mant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1097280" cy="40392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9326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4D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NACIONAIS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070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de Referência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Associados · Apresentação Institucional Padrão · v1.0 · MANTA-APRESENTACAO-INSTITUCIONAL-20260903-01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566928" cy="566928"/>
          </a:xfrm>
          <a:prstGeom prst="ellipse">
            <a:avLst/>
          </a:prstGeom>
          <a:solidFill>
            <a:srgbClr val="BF4D1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FIOL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8620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Ferrovia Oeste-Leste</a:t>
            </a:r>
            <a:endParaRPr lang="en-US" sz="14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41071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de superestrutura ferroviária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2148840"/>
            <a:ext cx="566928" cy="566928"/>
          </a:xfrm>
          <a:prstGeom prst="ellipse">
            <a:avLst/>
          </a:prstGeom>
          <a:solidFill>
            <a:srgbClr val="BF4D1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29184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UHE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28620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Irapé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3291840" y="341071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Barramento e vertedouro — hidrelétrica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2148840"/>
            <a:ext cx="566928" cy="566928"/>
          </a:xfrm>
          <a:prstGeom prst="ellipse">
            <a:avLst/>
          </a:prstGeom>
          <a:solidFill>
            <a:srgbClr val="BF4D1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ETE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28620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Aquapolo</a:t>
            </a:r>
            <a:endParaRPr lang="en-US" sz="1450" dirty="0"/>
          </a:p>
        </p:txBody>
      </p:sp>
      <p:sp>
        <p:nvSpPr>
          <p:cNvPr id="18" name="Text 15"/>
          <p:cNvSpPr txBox="1"/>
          <p:nvPr/>
        </p:nvSpPr>
        <p:spPr>
          <a:xfrm>
            <a:off x="6126480" y="341071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 l/s de água de reuso industrial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961120" y="2148840"/>
            <a:ext cx="566928" cy="566928"/>
          </a:xfrm>
          <a:prstGeom prst="ellipse">
            <a:avLst/>
          </a:prstGeom>
          <a:solidFill>
            <a:srgbClr val="BF4D1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961120" y="2862072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Serra Verde (terras raras)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8961120" y="341071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erosão em pilhas de estéril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Portfólio completo: rodovias, ferrovias, túneis, portos, hidrelétricas, dutovias e saneamento — Brasil e exterior.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F4D19"/>
          </a:solidFill>
          <a:ln/>
        </p:spPr>
      </p:sp>
      <p:pic>
        <p:nvPicPr>
          <p:cNvPr id="3" name="Image 0" descr="/tmp/claude-0/-home-user/d92b3415-3f95-59c5-b5f5-a1d6e3a93ce1/scratchpad/manta-institucional/assets/logo-mant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1097280" cy="40392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9326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4D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GLOBAL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070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Internacionais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Associados · Apresentação Institucional Padrão · v1.0 · MANTA-APRESENTACAO-INSTITUCIONAL-20260903-01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2606040" cy="384048"/>
          </a:xfrm>
          <a:prstGeom prst="rect">
            <a:avLst/>
          </a:prstGeom>
          <a:solidFill>
            <a:srgbClr val="8F3D2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2148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ARGENTINA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67919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ARLNG · Vaca Muerta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1927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Implantação greenfield de GNL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2148840"/>
            <a:ext cx="2606040" cy="384048"/>
          </a:xfrm>
          <a:prstGeom prst="rect">
            <a:avLst/>
          </a:prstGeom>
          <a:solidFill>
            <a:srgbClr val="8F3D2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291840" y="2148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PERU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267919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Tambopata · Puerto Maldonado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291840" y="331927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Drenagem urbana — 1.920 ha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2148840"/>
            <a:ext cx="2606040" cy="384048"/>
          </a:xfrm>
          <a:prstGeom prst="rect">
            <a:avLst/>
          </a:prstGeom>
          <a:solidFill>
            <a:srgbClr val="8F3D2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2148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267919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Metrô de Lisboa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126480" y="331927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Estações Baixa-Chiado e Cais do Sodré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8961120" y="2148840"/>
            <a:ext cx="2606040" cy="384048"/>
          </a:xfrm>
          <a:prstGeom prst="rect">
            <a:avLst/>
          </a:prstGeom>
          <a:solidFill>
            <a:srgbClr val="8F3D22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0" y="214884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EUA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8961120" y="267919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Nassau Sound Bridge, FL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961120" y="3319272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Obra de ponte — Fernandina Beach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F4D19"/>
          </a:solidFill>
          <a:ln/>
        </p:spPr>
      </p:sp>
      <p:pic>
        <p:nvPicPr>
          <p:cNvPr id="3" name="Image 0" descr="/tmp/claude-0/-home-user/d92b3415-3f95-59c5-b5f5-a1d6e3a93ce1/scratchpad/manta-institucional/assets/logo-mant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1097280" cy="40392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9326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4D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COMUNICAÇÃO E LIDERANÇAS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070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e Liderança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Associados · Apresentação Institucional Padrão · v1.0 · MANTA-APRESENTACAO-INSTITUCIONAL-20260903-01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566928" cy="566928"/>
          </a:xfrm>
          <a:prstGeom prst="ellipse">
            <a:avLst/>
          </a:prstGeom>
          <a:solidFill>
            <a:srgbClr val="5F2C2B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862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Maurício Neves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19272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· Diretor de Projetos — 27 anos, mineração/óleo &amp; gás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91840" y="2148840"/>
            <a:ext cx="566928" cy="566928"/>
          </a:xfrm>
          <a:prstGeom prst="ellipse">
            <a:avLst/>
          </a:prstGeom>
          <a:solidFill>
            <a:srgbClr val="5F2C2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29184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2862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Sadinoel de Freitas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291840" y="3319272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 de Infraestrutura — 50 anos, hidrelétricas/metrôs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26480" y="2148840"/>
            <a:ext cx="566928" cy="566928"/>
          </a:xfrm>
          <a:prstGeom prst="ellipse">
            <a:avLst/>
          </a:prstGeom>
          <a:solidFill>
            <a:srgbClr val="5F2C2B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2862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Picchi Jr.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126480" y="3319272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Diretor de Infraestrutura — +30 anos, metrô/rodovias/pleitos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961120" y="2148840"/>
            <a:ext cx="566928" cy="566928"/>
          </a:xfrm>
          <a:prstGeom prst="ellipse">
            <a:avLst/>
          </a:prstGeom>
          <a:solidFill>
            <a:srgbClr val="5F2C2B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WM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8961120" y="28620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IA &amp; PMO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961120" y="3319272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Willer Monteiro — governança técnica e digitalização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47091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Estrutura: Acionista → Empresa/Projeto → Cliente, com Comitê Técnico dedicado (barragens e túneis, OAE, mineração).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F4D19"/>
          </a:solidFill>
          <a:ln/>
        </p:spPr>
      </p:sp>
      <p:pic>
        <p:nvPicPr>
          <p:cNvPr id="3" name="Image 0" descr="/tmp/claude-0/-home-user/d92b3415-3f95-59c5-b5f5-a1d6e3a93ce1/scratchpad/manta-institucional/assets/logo-mant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1097280" cy="40392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9326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4D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DE DADOS: LIVRO AZUL ABDIB, EDIÇÃO 2025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070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Infraestrutura — Brasil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Associados · Apresentação Institucional Padrão · v1.0 · MANTA-APRESENTACAO-INSTITUCIONAL-20260903-01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2468880"/>
            <a:ext cx="2606040" cy="1371600"/>
          </a:xfrm>
          <a:prstGeom prst="rect">
            <a:avLst/>
          </a:prstGeom>
          <a:solidFill>
            <a:srgbClr val="F9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2697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F4D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1.663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2278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Projetos mapeados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291840" y="2468880"/>
            <a:ext cx="2606040" cy="1371600"/>
          </a:xfrm>
          <a:prstGeom prst="rect">
            <a:avLst/>
          </a:prstGeom>
          <a:solidFill>
            <a:srgbClr val="F9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91840" y="2697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F4D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R$ 1,5 tri</a:t>
            </a:r>
            <a:endParaRPr lang="en-US" sz="28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32278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 em pipeline ativo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126480" y="2468880"/>
            <a:ext cx="2606040" cy="1371600"/>
          </a:xfrm>
          <a:prstGeom prst="rect">
            <a:avLst/>
          </a:prstGeom>
          <a:solidFill>
            <a:srgbClr val="F9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26480" y="2697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F4D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UFs</a:t>
            </a:r>
            <a:endParaRPr lang="en-US" sz="2800" dirty="0"/>
          </a:p>
        </p:txBody>
      </p:sp>
      <p:sp>
        <p:nvSpPr>
          <p:cNvPr id="15" name="Text 12"/>
          <p:cNvSpPr txBox="1"/>
          <p:nvPr/>
        </p:nvSpPr>
        <p:spPr>
          <a:xfrm>
            <a:off x="6126480" y="32278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Abrangência + Governo Federal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961120" y="2468880"/>
            <a:ext cx="2606040" cy="1371600"/>
          </a:xfrm>
          <a:prstGeom prst="rect">
            <a:avLst/>
          </a:prstGeom>
          <a:solidFill>
            <a:srgbClr val="F9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961120" y="26974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F4D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5"/>
          <p:cNvSpPr txBox="1"/>
          <p:nvPr/>
        </p:nvSpPr>
        <p:spPr>
          <a:xfrm>
            <a:off x="8961120" y="32278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Edições · 2023-2024-2025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416052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Radiografia completa dos projetos de concessão e PPP no Brasil — referência de mercado usada pela Manta para dimensionar oportunidades e benchmarking de escopo.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F4D19"/>
          </a:solidFill>
          <a:ln/>
        </p:spPr>
      </p:sp>
      <p:pic>
        <p:nvPicPr>
          <p:cNvPr id="3" name="Image 0" descr="/tmp/claude-0/-home-user/d92b3415-3f95-59c5-b5f5-a1d6e3a93ce1/scratchpad/manta-institucional/assets/logo-mant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1097280" cy="40392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9326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4D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IA NA ENGENHARIA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070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MantaHub — Plataforma Integrada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Associados · Apresentação Institucional Padrão · v1.0 · MANTA-APRESENTACAO-INSTITUCIONAL-20260903-01</a:t>
            </a:r>
            <a:endParaRPr lang="en-US" sz="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0116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especializadas para análise de CAD, orçamento, sinalização, iluminação e estruturas — tudo em um só lugar.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697480"/>
            <a:ext cx="2377440" cy="1280160"/>
          </a:xfrm>
          <a:prstGeom prst="rect">
            <a:avLst/>
          </a:prstGeom>
          <a:solidFill>
            <a:srgbClr val="5F2C2B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57200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4107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108960" y="2697480"/>
            <a:ext cx="2377440" cy="1280160"/>
          </a:xfrm>
          <a:prstGeom prst="rect">
            <a:avLst/>
          </a:prstGeom>
          <a:solidFill>
            <a:srgbClr val="5F2C2B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108960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3108960" y="34107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760720" y="2697480"/>
            <a:ext cx="2377440" cy="1280160"/>
          </a:xfrm>
          <a:prstGeom prst="rect">
            <a:avLst/>
          </a:prstGeom>
          <a:solidFill>
            <a:srgbClr val="5F2C2B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760720" y="28803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07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5760720" y="34107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7D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Exportações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412480" y="2697480"/>
            <a:ext cx="3322015" cy="1280160"/>
          </a:xfrm>
          <a:prstGeom prst="rect">
            <a:avLst/>
          </a:prstGeom>
          <a:solidFill>
            <a:srgbClr val="F9F5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549640" y="2834640"/>
            <a:ext cx="30476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de Agentes para Gestão de Concessão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8549640" y="3429000"/>
            <a:ext cx="3047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4D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portal.mantaassociados.com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160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Desenvolvido integralmente pela equipe Manta Associados · acesso protegido por senha, com visibilidade controlada por projeto.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F4D19"/>
          </a:solidFill>
          <a:ln/>
        </p:spPr>
      </p:sp>
      <p:pic>
        <p:nvPicPr>
          <p:cNvPr id="3" name="Image 0" descr="/tmp/claude-0/-home-user/d92b3415-3f95-59c5-b5f5-a1d6e3a93ce1/scratchpad/manta-institucional/assets/logo-mant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1097280" cy="40392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9326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4D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AGENTE É ÚNICO, SOB MEDIDA PARA CADA CONCESSÃO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070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de Agentes — Gestão de Concessão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Associados · Apresentação Institucional Padrão · v1.0 · MANTA-APRESENTACAO-INSTITUCIONAL-20260903-01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502920" cy="502920"/>
          </a:xfrm>
          <a:prstGeom prst="ellipse">
            <a:avLst/>
          </a:prstGeom>
          <a:solidFill>
            <a:srgbClr val="BF4D1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8072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Terraplenagem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3374136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Volumes, DMT, cenários de otimização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91840" y="2148840"/>
            <a:ext cx="502920" cy="502920"/>
          </a:xfrm>
          <a:prstGeom prst="ellipse">
            <a:avLst/>
          </a:prstGeom>
          <a:solidFill>
            <a:srgbClr val="BF4D1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2918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291840" y="28072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Iluminação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3291840" y="3374136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contextual · visão executiva · IA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126480" y="2148840"/>
            <a:ext cx="502920" cy="502920"/>
          </a:xfrm>
          <a:prstGeom prst="ellipse">
            <a:avLst/>
          </a:prstGeom>
          <a:solidFill>
            <a:srgbClr val="BF4D1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1264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28072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SICRO/DNIT</a:t>
            </a:r>
            <a:endParaRPr lang="en-US" sz="1350" dirty="0"/>
          </a:p>
        </p:txBody>
      </p:sp>
      <p:sp>
        <p:nvSpPr>
          <p:cNvPr id="18" name="Text 15"/>
          <p:cNvSpPr txBox="1"/>
          <p:nvPr/>
        </p:nvSpPr>
        <p:spPr>
          <a:xfrm>
            <a:off x="6126480" y="3374136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Orçamento paramétrico · wizard de 6 etapas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961120" y="2148840"/>
            <a:ext cx="502920" cy="502920"/>
          </a:xfrm>
          <a:prstGeom prst="ellipse">
            <a:avLst/>
          </a:prstGeom>
          <a:solidFill>
            <a:srgbClr val="BF4D1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896112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961120" y="2807208"/>
            <a:ext cx="2606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Cronogramas</a:t>
            </a:r>
            <a:endParaRPr lang="en-US" sz="1350" dirty="0"/>
          </a:p>
        </p:txBody>
      </p:sp>
      <p:sp>
        <p:nvSpPr>
          <p:cNvPr id="22" name="Text 19"/>
          <p:cNvSpPr txBox="1"/>
          <p:nvPr/>
        </p:nvSpPr>
        <p:spPr>
          <a:xfrm>
            <a:off x="8961120" y="3374136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comparativo · análise preditiva ML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576072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F4D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Dashboard de Terraplenagem: R$ 157,6 Mi de economia identificada (31,1% de redução no orçamento total).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BF4D19"/>
          </a:solidFill>
          <a:ln/>
        </p:spPr>
      </p:sp>
      <p:pic>
        <p:nvPicPr>
          <p:cNvPr id="3" name="Image 0" descr="/tmp/claude-0/-home-user/d92b3415-3f95-59c5-b5f5-a1d6e3a93ce1/scratchpad/manta-institucional/assets/logo-manta-col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92608"/>
            <a:ext cx="1097280" cy="403926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93268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F4D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INTEGRADO MANTA ASSOCIADOS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0700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Trilhas de Atuação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Associados · Apresentação Institucional Padrão · v1.0 · MANTA-APRESENTACAO-INSTITUCIONAL-20260903-01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5212080" cy="502920"/>
          </a:xfrm>
          <a:prstGeom prst="rect">
            <a:avLst/>
          </a:prstGeom>
          <a:solidFill>
            <a:srgbClr val="BF4D19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457200" y="21488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1 · IMPLANTAÇÃO DO PORTAL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70632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digital centralizada, executada integralmente pela equipe Manta.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3566160"/>
            <a:ext cx="128016" cy="128016"/>
          </a:xfrm>
          <a:prstGeom prst="ellipse">
            <a:avLst/>
          </a:prstGeom>
          <a:solidFill>
            <a:srgbClr val="BF4D1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13232" y="345643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e Escopo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4069080"/>
            <a:ext cx="128016" cy="128016"/>
          </a:xfrm>
          <a:prstGeom prst="ellipse">
            <a:avLst/>
          </a:prstGeom>
          <a:solidFill>
            <a:srgbClr val="BF4D1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13232" y="395935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Implementação de IA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17920" y="2148840"/>
            <a:ext cx="5212080" cy="502920"/>
          </a:xfrm>
          <a:prstGeom prst="rect">
            <a:avLst/>
          </a:prstGeom>
          <a:solidFill>
            <a:srgbClr val="BF4D1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217920" y="21488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TRILHA 2 · SERVIÇOS DE ENGENHARIA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2770632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Apoio técnico especializado à pré-construção, CAPEX e riscos contratuais.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17920" y="3566160"/>
            <a:ext cx="128016" cy="128016"/>
          </a:xfrm>
          <a:prstGeom prst="ellipse">
            <a:avLst/>
          </a:prstGeom>
          <a:solidFill>
            <a:srgbClr val="BF4D1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6473952" y="345643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Pré-Construção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217920" y="4069080"/>
            <a:ext cx="128016" cy="128016"/>
          </a:xfrm>
          <a:prstGeom prst="ellipse">
            <a:avLst/>
          </a:prstGeom>
          <a:solidFill>
            <a:srgbClr val="BF4D19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473952" y="395935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F2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CAPEX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F2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/d92b3415-3f95-59c5-b5f5-a1d6e3a93ce1/scratchpad/manta-institucional/assets/logo-manta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828800"/>
            <a:ext cx="2286000" cy="841513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ASSOCIADOS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337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07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de Engenharia · portal.mantaassociados.com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794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D8C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referência do ecossistema Manta Maestro · uso por agente-apresentacoes (Manta 14)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47104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9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Manta Associados · Apresentação Institucional Padrão · v1.0 · MANTA-APRESENTACAO-INSTITUCIONAL-20260903-01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2026-09-03T21:55:22Z</dcterms:created>
  <dcterms:modified xsi:type="dcterms:W3CDTF">2026-09-03T21:55:22Z</dcterms:modified>
</cp:coreProperties>
</file>